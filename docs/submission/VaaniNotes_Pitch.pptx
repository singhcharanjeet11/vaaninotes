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93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188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20">
                <a:solidFill>
                  <a:srgbClr val="B93A0E"/>
                </a:solidFill>
                <a:latin typeface="Segoe UI"/>
              </a:rPr>
              <a:t>SNAPDRAGON AI LAB  ·  BUILD &amp; PRESENT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1C1A17"/>
                </a:solidFill>
                <a:latin typeface="Georgia"/>
              </a:rPr>
              <a:t>VaaniNotes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461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4A453D"/>
                </a:solidFill>
                <a:latin typeface="Georgia"/>
              </a:rPr>
              <a:t>Offline, multilingual lecture and meeting notes
that run on the Snapdragon NPU.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983480"/>
            <a:ext cx="3337560" cy="56692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983480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F5C5C"/>
                </a:solidFill>
                <a:latin typeface="Segoe UI"/>
              </a:rPr>
              <a:t>Whisper-Small on the Hexagon NPU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4983480"/>
            <a:ext cx="3337560" cy="56692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4983480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F5C5C"/>
                </a:solidFill>
                <a:latin typeface="Segoe UI"/>
              </a:rPr>
              <a:t>Local LLM via Qualcomm GenieX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983480"/>
            <a:ext cx="3337560" cy="56692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4983480"/>
            <a:ext cx="3337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B93A0E"/>
                </a:solidFill>
                <a:latin typeface="Segoe UI"/>
              </a:rPr>
              <a:t>11 languages  ·  0 bytes sent to the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989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6459"/>
                </a:solidFill>
                <a:latin typeface="Nirmala UI"/>
              </a:rPr>
              <a:t>Vaani (वाणी) means speech.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B93A0E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C1A17"/>
                </a:solidFill>
                <a:latin typeface="Georgia"/>
              </a:rPr>
              <a:t>Hours of spoken knowledge are lost, or sent to someone else's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459"/>
                </a:solidFill>
                <a:latin typeface="Segoe UI"/>
              </a:rPr>
              <a:t>VaaniNotes  ·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3456432" cy="3017520"/>
          </a:xfrm>
          <a:prstGeom prst="roundRect">
            <a:avLst>
              <a:gd name="adj" fmla="val 4848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96312"/>
            <a:ext cx="2907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C1A17"/>
                </a:solidFill>
                <a:latin typeface="Georgia"/>
              </a:rPr>
              <a:t>Classrooms and meetings are multilingual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907791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A453D"/>
                </a:solidFill>
                <a:latin typeface="Segoe UI"/>
              </a:rPr>
              <a:t>A single lecture moves between Hindi, English and a regional language. Note-taking tools built for English-only audio break 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240280"/>
            <a:ext cx="3456432" cy="3017520"/>
          </a:xfrm>
          <a:prstGeom prst="roundRect">
            <a:avLst>
              <a:gd name="adj" fmla="val 4848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496312"/>
            <a:ext cx="2907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C1A17"/>
                </a:solidFill>
                <a:latin typeface="Georgia"/>
              </a:rPr>
              <a:t>Connectivity is not guaranteed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3108960"/>
            <a:ext cx="2907791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A453D"/>
                </a:solidFill>
                <a:latin typeface="Segoe UI"/>
              </a:rPr>
              <a:t>Hostels, trains, rural campuses and field offices have patchy internet. Cloud transcription stops exactly where it is needed most.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2240280"/>
            <a:ext cx="3456432" cy="3017520"/>
          </a:xfrm>
          <a:prstGeom prst="roundRect">
            <a:avLst>
              <a:gd name="adj" fmla="val 4848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2496312"/>
            <a:ext cx="2907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C1A17"/>
                </a:solidFill>
                <a:latin typeface="Georgia"/>
              </a:rPr>
              <a:t>Audio is private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3108960"/>
            <a:ext cx="2907791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A453D"/>
                </a:solidFill>
                <a:latin typeface="Segoe UI"/>
              </a:rPr>
              <a:t>Lectures, patient consultations, client calls and internal meetings should not be uploaded to a third party to get a summary.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2356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C1A17"/>
                </a:solidFill>
                <a:latin typeface="Georgia"/>
              </a:rPr>
              <a:t>A Snapdragon X laptop already has the hardware to solve this locally. The NPU just needs the right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B93A0E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C1A17"/>
                </a:solidFill>
                <a:latin typeface="Georgia"/>
              </a:rPr>
              <a:t>Press record. Get notes. Nothing leaves the laptop.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459"/>
                </a:solidFill>
                <a:latin typeface="Segoe UI"/>
              </a:rPr>
              <a:t>VaaniNotes  ·  3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94560"/>
            <a:ext cx="128016" cy="128016"/>
          </a:xfrm>
          <a:prstGeom prst="ellipse">
            <a:avLst/>
          </a:prstGeom>
          <a:solidFill>
            <a:srgbClr val="B93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C1A17"/>
                </a:solidFill>
                <a:latin typeface="Georgia"/>
              </a:rPr>
              <a:t>Transcribes 11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95727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A453D"/>
                </a:solidFill>
                <a:latin typeface="Segoe UI"/>
              </a:rPr>
              <a:t>Auto-detects the language, or translates speech straight to English.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18688"/>
            <a:ext cx="128016" cy="128016"/>
          </a:xfrm>
          <a:prstGeom prst="ellipse">
            <a:avLst/>
          </a:prstGeom>
          <a:solidFill>
            <a:srgbClr val="B93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08152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C1A17"/>
                </a:solidFill>
                <a:latin typeface="Georgia"/>
              </a:rPr>
              <a:t>Writes real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6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A453D"/>
                </a:solidFill>
                <a:latin typeface="Segoe UI"/>
              </a:rPr>
              <a:t>Summary, key points, action items with deadlines, and flip-card flashcards, in the language you choose.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242816"/>
            <a:ext cx="128016" cy="128016"/>
          </a:xfrm>
          <a:prstGeom prst="ellipse">
            <a:avLst/>
          </a:prstGeom>
          <a:solidFill>
            <a:srgbClr val="B93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05656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C1A17"/>
                </a:solidFill>
                <a:latin typeface="Georgia"/>
              </a:rPr>
              <a:t>Answers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43984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A453D"/>
                </a:solidFill>
                <a:latin typeface="Segoe UI"/>
              </a:rPr>
              <a:t>"When is the lab report due?" returns the answer with its timestamp.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266944"/>
            <a:ext cx="128016" cy="128016"/>
          </a:xfrm>
          <a:prstGeom prst="ellipse">
            <a:avLst/>
          </a:prstGeom>
          <a:solidFill>
            <a:srgbClr val="B93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12978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C1A17"/>
                </a:solidFill>
                <a:latin typeface="Georgia"/>
              </a:rPr>
              <a:t>Private by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68112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4A453D"/>
                </a:solidFill>
                <a:latin typeface="Segoe UI"/>
              </a:rPr>
              <a:t>Binds to 127.0.0.1 with a strict Content-Security-Policy: the page cannot call 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2011680"/>
            <a:ext cx="5486400" cy="3977639"/>
          </a:xfrm>
          <a:prstGeom prst="roundRect">
            <a:avLst>
              <a:gd name="adj" fmla="val 3678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ot-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2084831"/>
            <a:ext cx="5340096" cy="3337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62472" y="5504688"/>
            <a:ext cx="53400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B6459"/>
                </a:solidFill>
                <a:latin typeface="Segoe UI"/>
              </a:rPr>
              <a:t>The app turning a 93-second biology lecture into notes (development build, CPU fallback).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B93A0E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C1A17"/>
                </a:solidFill>
                <a:latin typeface="Georgia"/>
              </a:rPr>
              <a:t>One pipeline, two models, all on the NPU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459"/>
                </a:solidFill>
                <a:latin typeface="Segoe UI"/>
              </a:rPr>
              <a:t>VaaniNotes  ·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2057400"/>
            <a:ext cx="5715000" cy="2743200"/>
          </a:xfrm>
          <a:prstGeom prst="roundRect">
            <a:avLst>
              <a:gd name="adj" fmla="val 5333"/>
            </a:avLst>
          </a:prstGeom>
          <a:solidFill>
            <a:srgbClr val="EFE8DA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0" y="21488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0F5C5C"/>
                </a:solidFill>
                <a:latin typeface="Segoe UI"/>
              </a:rPr>
              <a:t>HEXAGON NPU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331720" cy="2011680"/>
          </a:xfrm>
          <a:prstGeom prst="roundRect">
            <a:avLst>
              <a:gd name="adj" fmla="val 7272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249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C1A17"/>
                </a:solidFill>
                <a:latin typeface="Georgia"/>
              </a:rPr>
              <a:t>Audio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00400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A453D"/>
                </a:solidFill>
                <a:latin typeface="Segoe UI"/>
              </a:rPr>
              <a:t>Microphone or file.
Encoded to 16 kHz
WAV in the browser.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560320"/>
            <a:ext cx="2331720" cy="2011680"/>
          </a:xfrm>
          <a:prstGeom prst="roundRect">
            <a:avLst>
              <a:gd name="adj" fmla="val 7272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7249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5C5C"/>
                </a:solidFill>
                <a:latin typeface="Georgia"/>
              </a:rPr>
              <a:t>Whisper-Small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3200400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A453D"/>
                </a:solidFill>
                <a:latin typeface="Segoe UI"/>
              </a:rPr>
              <a:t>AI Hub precompiled
QNN ONNX.
30 s windows.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560320"/>
            <a:ext cx="2331720" cy="2011680"/>
          </a:xfrm>
          <a:prstGeom prst="roundRect">
            <a:avLst>
              <a:gd name="adj" fmla="val 7272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7249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5C5C"/>
                </a:solidFill>
                <a:latin typeface="Georgia"/>
              </a:rPr>
              <a:t>Qwen3-4B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A453D"/>
                </a:solidFill>
                <a:latin typeface="Segoe UI"/>
              </a:rPr>
              <a:t>Qwen3-4B-Instruct on
GenieX (QAIRT), w4a16.
Map-reduce, 4K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560320"/>
            <a:ext cx="2331720" cy="2011680"/>
          </a:xfrm>
          <a:prstGeom prst="roundRect">
            <a:avLst>
              <a:gd name="adj" fmla="val 7272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272491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C1A17"/>
                </a:solidFill>
                <a:latin typeface="Georgia"/>
              </a:rPr>
              <a:t>Notes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3200400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A453D"/>
                </a:solidFill>
                <a:latin typeface="Segoe UI"/>
              </a:rPr>
              <a:t>Summary, key points,
actions, flashcards,
Q&amp;A, Markdown.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90672" y="3474720"/>
            <a:ext cx="347472" cy="201168"/>
          </a:xfrm>
          <a:prstGeom prst="rightArrow">
            <a:avLst/>
          </a:prstGeom>
          <a:solidFill>
            <a:srgbClr val="DDD4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5788152" y="3474720"/>
            <a:ext cx="347472" cy="201168"/>
          </a:xfrm>
          <a:prstGeom prst="rightArrow">
            <a:avLst/>
          </a:prstGeom>
          <a:solidFill>
            <a:srgbClr val="DDD4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8668512" y="3474720"/>
            <a:ext cx="347472" cy="201168"/>
          </a:xfrm>
          <a:prstGeom prst="rightArrow">
            <a:avLst/>
          </a:prstGeom>
          <a:solidFill>
            <a:srgbClr val="DDD4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A453D"/>
                </a:solidFill>
                <a:latin typeface="Segoe UI"/>
              </a:rPr>
              <a:t>FastAPI on 127.0.0.1 runs a single-worker job queue and streams results to the page as they are produced: transcript first, then each notes section.</a:t>
            </a:r>
          </a:p>
          <a:p>
            <a:pPr algn="l">
              <a:lnSpc>
                <a:spcPct val="115000"/>
              </a:lnSpc>
              <a:spcBef>
                <a:spcPts val="585"/>
              </a:spcBef>
            </a:pPr>
            <a:r>
              <a:rPr sz="1300" b="0">
                <a:solidFill>
                  <a:srgbClr val="4A453D"/>
                </a:solidFill>
                <a:latin typeface="Segoe UI"/>
              </a:rPr>
              <a:t>Fallback chain keeps it useful anywhere: NPU → CPU for speech; GenieX → any local OpenAI-compatible server → built-in extractive engine for notes.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B93A0E"/>
                </a:solidFill>
                <a:latin typeface="Segoe UI"/>
              </a:rPr>
              <a:t>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C1A17"/>
                </a:solidFill>
                <a:latin typeface="Georgia"/>
              </a:rPr>
              <a:t>Optimised for Snapdragon, not just ported to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459"/>
                </a:solidFill>
                <a:latin typeface="Segoe UI"/>
              </a:rPr>
              <a:t>VaaniNotes  ·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76088" cy="192024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67712"/>
            <a:ext cx="4727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5C5C"/>
                </a:solidFill>
                <a:latin typeface="Georgia"/>
              </a:rPr>
              <a:t>Chipset-specific AI Hub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47274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A453D"/>
                </a:solidFill>
                <a:latin typeface="Segoe UI"/>
              </a:rPr>
              <a:t>setup.ps1 detects X Elite, X Plus or X2 Elite and fetches the matching precompiled QAIRT context binaries for Whisper-Small from Qualcomm AI 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2011680"/>
            <a:ext cx="5276088" cy="192024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2267712"/>
            <a:ext cx="4727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5C5C"/>
                </a:solidFill>
                <a:latin typeface="Georgia"/>
              </a:rPr>
              <a:t>ONNX Runtime + QNN on HTP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7" y="2880360"/>
            <a:ext cx="47274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A453D"/>
                </a:solidFill>
                <a:latin typeface="Segoe UI"/>
              </a:rPr>
              <a:t>Encoder and decoder run through the QNN execution provider in burst mode. Both the plugin EP (2.x) and the legacy built-in EP are supported.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76088" cy="192024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70832"/>
            <a:ext cx="4727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5C5C"/>
                </a:solidFill>
                <a:latin typeface="Georgia"/>
              </a:rPr>
              <a:t>A PyTorch-free NPU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47274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A453D"/>
                </a:solidFill>
                <a:latin typeface="Segoe UI"/>
              </a:rPr>
              <a:t>The KV-cache decoding loop is written in numpy against the AI Hub I/O contract (float16, named tensors), so the Snapdragon install stays small and native ARM64.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4114800"/>
            <a:ext cx="5276088" cy="1920240"/>
          </a:xfrm>
          <a:prstGeom prst="roundRect">
            <a:avLst>
              <a:gd name="adj" fmla="val 7619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4370832"/>
            <a:ext cx="4727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F5C5C"/>
                </a:solidFill>
                <a:latin typeface="Georgia"/>
              </a:rPr>
              <a:t>LLM on the NPU via GenieX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4983480"/>
            <a:ext cx="47274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A453D"/>
                </a:solidFill>
                <a:latin typeface="Segoe UI"/>
              </a:rPr>
              <a:t>Qwen3-4B-Instruct (w4a16, QAIRT) is reached over GenieX's local OpenAI-compatible endpoint. Long recordings are condensed map-reduce style to fit 4K tokens.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B93A0E"/>
                </a:solidFill>
                <a:latin typeface="Segoe UI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C1A17"/>
                </a:solidFill>
                <a:latin typeface="Georgia"/>
              </a:rPr>
              <a:t>About 30× faster than real time on the NPU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459"/>
                </a:solidFill>
                <a:latin typeface="Segoe UI"/>
              </a:rPr>
              <a:t>VaaniNotes  ·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258568" cy="1783080"/>
          </a:xfrm>
          <a:prstGeom prst="roundRect">
            <a:avLst>
              <a:gd name="adj" fmla="val 8205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5C5C"/>
                </a:solidFill>
                <a:latin typeface="Consolas"/>
              </a:rPr>
              <a:t>117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52928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A453D"/>
                </a:solidFill>
                <a:latin typeface="Segoe UI"/>
              </a:rPr>
              <a:t>Whisper-Small encoder
per 30 s of audio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7248" y="2011680"/>
            <a:ext cx="2258568" cy="1783080"/>
          </a:xfrm>
          <a:prstGeom prst="roundRect">
            <a:avLst>
              <a:gd name="adj" fmla="val 8205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217627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5C5C"/>
                </a:solidFill>
                <a:latin typeface="Consolas"/>
              </a:rPr>
              <a:t>10.5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8416" y="2852928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A453D"/>
                </a:solidFill>
                <a:latin typeface="Segoe UI"/>
              </a:rPr>
              <a:t>Whisper-Small decoder
per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2976" y="2011680"/>
            <a:ext cx="2258568" cy="1783080"/>
          </a:xfrm>
          <a:prstGeom prst="roundRect">
            <a:avLst>
              <a:gd name="adj" fmla="val 8205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24144" y="2176272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5C5C"/>
                </a:solidFill>
                <a:latin typeface="Consolas"/>
              </a:rPr>
              <a:t>22.6 tok/s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24144" y="2852928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A453D"/>
                </a:solidFill>
                <a:latin typeface="Segoe UI"/>
              </a:rPr>
              <a:t>Qwen3-4B-Instruct
GenieX QAIRT, w4a16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459"/>
                </a:solidFill>
                <a:latin typeface="Segoe UI"/>
              </a:rPr>
              <a:t>Published by Qualcomm AI Hub for Snapdragon X Elite (NPU), models v0.63.0. On X2 Elite: 53 ms / 6.3 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7040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1A17"/>
                </a:solidFill>
                <a:latin typeface="Segoe UI"/>
              </a:rPr>
              <a:t>30 s of speech ≈ 117 ms + 80 tokens × 10.5 ms ≈ 1 s of NPU time.</a:t>
            </a:r>
          </a:p>
          <a:p>
            <a:pPr algn="l">
              <a:lnSpc>
                <a:spcPct val="115000"/>
              </a:lnSpc>
              <a:spcBef>
                <a:spcPts val="607"/>
              </a:spcBef>
            </a:pPr>
            <a:r>
              <a:rPr sz="1350" b="0">
                <a:solidFill>
                  <a:srgbClr val="1C1A17"/>
                </a:solidFill>
                <a:latin typeface="Segoe UI"/>
              </a:rPr>
              <a:t>A one-hour lecture transcribes in about two minutes, then notes are written at roughly 20 tokens per second.</a:t>
            </a:r>
          </a:p>
          <a:p>
            <a:pPr algn="l">
              <a:lnSpc>
                <a:spcPct val="115000"/>
              </a:lnSpc>
              <a:spcBef>
                <a:spcPts val="607"/>
              </a:spcBef>
            </a:pPr>
            <a:r>
              <a:rPr sz="1350" b="0">
                <a:solidFill>
                  <a:srgbClr val="1C1A17"/>
                </a:solidFill>
                <a:latin typeface="Segoe UI"/>
              </a:rPr>
              <a:t>Measured CPU fallback on a 13th-gen Intel i5: 1.7–2.1× real time for the same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011680"/>
            <a:ext cx="3291840" cy="4069080"/>
          </a:xfrm>
          <a:prstGeom prst="roundRect">
            <a:avLst>
              <a:gd name="adj" fmla="val 4444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7627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C1A17"/>
                </a:solidFill>
                <a:latin typeface="Segoe UI"/>
              </a:rPr>
              <a:t>Time to transcribe a 60-minute lecture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453D"/>
                </a:solidFill>
                <a:latin typeface="Segoe UI"/>
              </a:rPr>
              <a:t>CPU fallback (measured, i5)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429000"/>
            <a:ext cx="2788920" cy="292608"/>
          </a:xfrm>
          <a:prstGeom prst="rect">
            <a:avLst/>
          </a:prstGeom>
          <a:solidFill>
            <a:srgbClr val="6B6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76732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6B6459"/>
                </a:solidFill>
                <a:latin typeface="Consolas"/>
              </a:rPr>
              <a:t>≈ 30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3434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453D"/>
                </a:solidFill>
                <a:latin typeface="Segoe UI"/>
              </a:rPr>
              <a:t>Snapdragon X Elite NPU (from AI Hub figures)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4846320"/>
            <a:ext cx="185927" cy="292608"/>
          </a:xfrm>
          <a:prstGeom prst="rect">
            <a:avLst/>
          </a:prstGeom>
          <a:solidFill>
            <a:srgbClr val="0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9847" y="484632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5C5C"/>
                </a:solidFill>
                <a:latin typeface="Consolas"/>
              </a:rPr>
              <a:t>≈ 2 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B93A0E"/>
                </a:solidFill>
                <a:latin typeface="Segoe UI"/>
              </a:rPr>
              <a:t>DEPLOYMENT &amp; 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C1A17"/>
                </a:solidFill>
                <a:latin typeface="Georgia"/>
              </a:rPr>
              <a:t>Two commands to install. Usable by everyone.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459"/>
                </a:solidFill>
                <a:latin typeface="Segoe UI"/>
              </a:rPr>
              <a:t>VaaniNotes  ·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76088" cy="402336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C1A17"/>
                </a:solidFill>
                <a:latin typeface="Georgia"/>
              </a:rPr>
              <a:t>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788920"/>
            <a:ext cx="4727448" cy="868680"/>
          </a:xfrm>
          <a:prstGeom prst="roundRect">
            <a:avLst>
              <a:gd name="adj" fmla="val 12000"/>
            </a:avLst>
          </a:prstGeom>
          <a:solidFill>
            <a:srgbClr val="EFE8DA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98648"/>
            <a:ext cx="4389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C1A17"/>
                </a:solidFill>
                <a:latin typeface="Consolas"/>
              </a:rPr>
              <a:t>powershell -File setup.ps1</a:t>
            </a:r>
          </a:p>
          <a:p>
            <a:pPr algn="l">
              <a:spcBef>
                <a:spcPts val="585"/>
              </a:spcBef>
            </a:pPr>
            <a:r>
              <a:rPr sz="1300" b="0">
                <a:solidFill>
                  <a:srgbClr val="1C1A17"/>
                </a:solidFill>
                <a:latin typeface="Consolas"/>
              </a:rPr>
              <a:t>.\run.ps1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472744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53D"/>
                </a:solidFill>
                <a:latin typeface="Segoe UI"/>
              </a:rPr>
              <a:t>•  Detects the chipset and downloads the right AI Hub model</a:t>
            </a:r>
          </a:p>
          <a:p>
            <a:pPr algn="l">
              <a:lnSpc>
                <a:spcPct val="112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No API keys, no accounts, no cloud services</a:t>
            </a:r>
          </a:p>
          <a:p>
            <a:pPr algn="l">
              <a:lnSpc>
                <a:spcPct val="112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Works in airplane mode after setup; fonts are self-hosted</a:t>
            </a:r>
          </a:p>
          <a:p>
            <a:pPr algn="l">
              <a:lnSpc>
                <a:spcPct val="112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CPU and no-LLM fallbacks, so it runs on any Windows PC</a:t>
            </a:r>
          </a:p>
          <a:p>
            <a:pPr algn="l">
              <a:lnSpc>
                <a:spcPct val="112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Web UI, command line, and Markdown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276088" cy="402336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240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C1A17"/>
                </a:solidFill>
                <a:latin typeface="Georgia"/>
              </a:rPr>
              <a:t>Accessibility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788920"/>
            <a:ext cx="4727448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4A453D"/>
                </a:solidFill>
                <a:latin typeface="Segoe UI"/>
              </a:rPr>
              <a:t>•  Full keyboard operation, visible focus, skip link</a:t>
            </a:r>
          </a:p>
          <a:p>
            <a:pPr algn="l">
              <a:lnSpc>
                <a:spcPct val="112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Screen-reader landmarks, ARIA tabs, live progress updates</a:t>
            </a:r>
          </a:p>
          <a:p>
            <a:pPr algn="l">
              <a:lnSpc>
                <a:spcPct val="112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WCAG AA contrast, 44 px targets, 200% zoom safe</a:t>
            </a:r>
          </a:p>
          <a:p>
            <a:pPr algn="l">
              <a:lnSpc>
                <a:spcPct val="112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Light and dark themes; respects reduced motion</a:t>
            </a:r>
          </a:p>
          <a:p>
            <a:pPr algn="l">
              <a:lnSpc>
                <a:spcPct val="112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Notes in 11 languages with correct lang tags, so Indic scripts get the right font and voice</a:t>
            </a:r>
          </a:p>
          <a:p>
            <a:pPr algn="l">
              <a:lnSpc>
                <a:spcPct val="112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Status is never colour-only: icon + words every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B93A0E"/>
                </a:solidFill>
                <a:latin typeface="Segoe UI"/>
              </a:rPr>
              <a:t>USE CASE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C1A17"/>
                </a:solidFill>
                <a:latin typeface="Georgia"/>
              </a:rPr>
              <a:t>Who gets their hours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459"/>
                </a:solidFill>
                <a:latin typeface="Segoe UI"/>
              </a:rPr>
              <a:t>VaaniNotes  ·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87752" cy="2514600"/>
          </a:xfrm>
          <a:prstGeom prst="roundRect">
            <a:avLst>
              <a:gd name="adj" fmla="val 5818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67712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C1A17"/>
                </a:solidFill>
                <a:latin typeface="Georgia"/>
              </a:rPr>
              <a:t>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203911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453D"/>
                </a:solidFill>
                <a:latin typeface="Segoe UI"/>
              </a:rPr>
              <a:t>Lectures in mixed Hindi-English become revision notes and flashcards, even in a hostel with no Wi-Fi.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011680"/>
            <a:ext cx="2587752" cy="2514600"/>
          </a:xfrm>
          <a:prstGeom prst="roundRect">
            <a:avLst>
              <a:gd name="adj" fmla="val 5818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2267712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C1A17"/>
                </a:solidFill>
                <a:latin typeface="Georgia"/>
              </a:rPr>
              <a:t>Teachers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2880360"/>
            <a:ext cx="203911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453D"/>
                </a:solidFill>
                <a:latin typeface="Segoe UI"/>
              </a:rPr>
              <a:t>Class recordings turn into summaries and homework lists to share with absentees.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011680"/>
            <a:ext cx="2587752" cy="2514600"/>
          </a:xfrm>
          <a:prstGeom prst="roundRect">
            <a:avLst>
              <a:gd name="adj" fmla="val 5818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2267712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C1A17"/>
                </a:solidFill>
                <a:latin typeface="Georgia"/>
              </a:rPr>
              <a:t>Clinics &amp; legal 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880360"/>
            <a:ext cx="203911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453D"/>
                </a:solidFill>
                <a:latin typeface="Segoe UI"/>
              </a:rPr>
              <a:t>Consultations stay confidential because audio never leaves the device.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2011680"/>
            <a:ext cx="2587752" cy="2514600"/>
          </a:xfrm>
          <a:prstGeom prst="roundRect">
            <a:avLst>
              <a:gd name="adj" fmla="val 5818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2267712"/>
            <a:ext cx="2039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C1A17"/>
                </a:solidFill>
                <a:latin typeface="Georgia"/>
              </a:rPr>
              <a:t>Field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2880360"/>
            <a:ext cx="203911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453D"/>
                </a:solidFill>
                <a:latin typeface="Segoe UI"/>
              </a:rPr>
              <a:t>Government and NGO staff get minutes and action items in low-connectivity offices.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C1A17"/>
                </a:solidFill>
                <a:latin typeface="Georgia"/>
              </a:rPr>
              <a:t>What makes it different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453D"/>
                </a:solidFill>
                <a:latin typeface="Segoe UI"/>
              </a:rPr>
              <a:t>Indian languages first, not an afterthought  ·  Both models on the NPU, not just one  ·  Provably offline (CSP + loopback)  ·  Degrades gracefully instead of failing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B93A0E"/>
                </a:solidFill>
                <a:latin typeface="Segoe UI"/>
              </a:rPr>
              <a:t>STATUS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C1A17"/>
                </a:solidFill>
                <a:latin typeface="Georgia"/>
              </a:rPr>
              <a:t>What is built, what is verified, what is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459"/>
                </a:solidFill>
                <a:latin typeface="Segoe UI"/>
              </a:rPr>
              <a:t>VaaniNotes  ·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56432" cy="3931920"/>
          </a:xfrm>
          <a:prstGeom prst="roundRect">
            <a:avLst>
              <a:gd name="adj" fmla="val 4232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67712"/>
            <a:ext cx="2907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C1A17"/>
                </a:solidFill>
                <a:latin typeface="Georgia"/>
              </a:rPr>
              <a:t>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2907791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A453D"/>
                </a:solidFill>
                <a:latin typeface="Segoe UI"/>
              </a:rPr>
              <a:t>•  NPU speech path (QNN EP)</a:t>
            </a:r>
          </a:p>
          <a:p>
            <a:pPr algn="l">
              <a:lnSpc>
                <a:spcPct val="115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GenieX LLM client + fallbacks</a:t>
            </a:r>
          </a:p>
          <a:p>
            <a:pPr algn="l">
              <a:lnSpc>
                <a:spcPct val="115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Notes, flashcards, Q&amp;A</a:t>
            </a:r>
          </a:p>
          <a:p>
            <a:pPr algn="l">
              <a:lnSpc>
                <a:spcPct val="115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Web UI, CLI, Markdown export</a:t>
            </a:r>
          </a:p>
          <a:p>
            <a:pPr algn="l">
              <a:lnSpc>
                <a:spcPct val="115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One-step setup, benchmark 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011680"/>
            <a:ext cx="3456432" cy="3931920"/>
          </a:xfrm>
          <a:prstGeom prst="roundRect">
            <a:avLst>
              <a:gd name="adj" fmla="val 4232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267712"/>
            <a:ext cx="2907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C1A17"/>
                </a:solidFill>
                <a:latin typeface="Georgia"/>
              </a:rPr>
              <a:t>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880360"/>
            <a:ext cx="2907791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A453D"/>
                </a:solidFill>
                <a:latin typeface="Segoe UI"/>
              </a:rPr>
              <a:t>•  11 unit tests, including the AI Hub decoder I/O contract</a:t>
            </a:r>
          </a:p>
          <a:p>
            <a:pPr algn="l">
              <a:lnSpc>
                <a:spcPct val="115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End-to-end pipeline, API and UI on the CPU path</a:t>
            </a:r>
          </a:p>
          <a:p>
            <a:pPr algn="l">
              <a:lnSpc>
                <a:spcPct val="115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Model I/O checked against the published AI Hub assets</a:t>
            </a:r>
          </a:p>
          <a:p>
            <a:pPr algn="l">
              <a:lnSpc>
                <a:spcPct val="115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Still to do on a Snapdragon laptop: NPU timings with scripts/benchmark.py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2011680"/>
            <a:ext cx="3456432" cy="3931920"/>
          </a:xfrm>
          <a:prstGeom prst="roundRect">
            <a:avLst>
              <a:gd name="adj" fmla="val 4232"/>
            </a:avLst>
          </a:prstGeom>
          <a:solidFill>
            <a:srgbClr val="FFFDF8"/>
          </a:solidFill>
          <a:ln w="9525">
            <a:solidFill>
              <a:srgbClr val="DDD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2267712"/>
            <a:ext cx="29077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B93A0E"/>
                </a:solidFill>
                <a:latin typeface="Georgia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880360"/>
            <a:ext cx="2907791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A453D"/>
                </a:solidFill>
                <a:latin typeface="Segoe UI"/>
              </a:rPr>
              <a:t>•  Whisper-Large-v3-Turbo from AI Hub for higher Indic accuracy</a:t>
            </a:r>
          </a:p>
          <a:p>
            <a:pPr algn="l">
              <a:lnSpc>
                <a:spcPct val="115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Live captions while recording</a:t>
            </a:r>
          </a:p>
          <a:p>
            <a:pPr algn="l">
              <a:lnSpc>
                <a:spcPct val="115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Speaker diarisation</a:t>
            </a:r>
          </a:p>
          <a:p>
            <a:pPr algn="l">
              <a:lnSpc>
                <a:spcPct val="115000"/>
              </a:lnSpc>
              <a:spcBef>
                <a:spcPts val="562"/>
              </a:spcBef>
            </a:pPr>
            <a:r>
              <a:rPr sz="1250" b="0">
                <a:solidFill>
                  <a:srgbClr val="4A453D"/>
                </a:solidFill>
                <a:latin typeface="Segoe UI"/>
              </a:rPr>
              <a:t>•  Packaged installer (MSIX)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93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1C1A17"/>
                </a:solidFill>
                <a:latin typeface="Georgia"/>
              </a:rPr>
              <a:t>Your lecture stays yours.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004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4A453D"/>
                </a:solidFill>
                <a:latin typeface="Georgia"/>
              </a:rPr>
              <a:t>VaaniNotes turns the Snapdragon NPU into a private note-taker for India's multilingual classrooms and workplaces.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9377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6459"/>
                </a:solidFill>
                <a:latin typeface="Segoe UI"/>
              </a:rPr>
              <a:t>Source code, setup guide, design system and benchmarks are in the GitHub repository linked with this submission.</a:t>
            </a:r>
          </a:p>
          <a:p>
            <a:pPr algn="l">
              <a:lnSpc>
                <a:spcPct val="115000"/>
              </a:lnSpc>
              <a:spcBef>
                <a:spcPts val="562"/>
              </a:spcBef>
            </a:pPr>
            <a:r>
              <a:rPr sz="1250" b="0">
                <a:solidFill>
                  <a:srgbClr val="6B6459"/>
                </a:solidFill>
                <a:latin typeface="Segoe UI"/>
              </a:rPr>
              <a:t>Models: Whisper-Small and Qwen3-4B-Instruct via Qualcomm AI Hub.  Snapdragon and Qualcomm are trademarks of Qualcomm Incorporated.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